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7"/>
  </p:notesMasterIdLst>
  <p:sldIdLst>
    <p:sldId id="256" r:id="rId2"/>
    <p:sldId id="257" r:id="rId3"/>
    <p:sldId id="282" r:id="rId4"/>
    <p:sldId id="283" r:id="rId5"/>
    <p:sldId id="285" r:id="rId6"/>
    <p:sldId id="284" r:id="rId7"/>
    <p:sldId id="269" r:id="rId8"/>
    <p:sldId id="273" r:id="rId9"/>
    <p:sldId id="276" r:id="rId10"/>
    <p:sldId id="280" r:id="rId11"/>
    <p:sldId id="272" r:id="rId12"/>
    <p:sldId id="268" r:id="rId13"/>
    <p:sldId id="270"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1" d="100"/>
          <a:sy n="81" d="100"/>
        </p:scale>
        <p:origin x="70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2"/>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8" y="1069102"/>
            <a:ext cx="10383499" cy="813337"/>
          </a:xfrm>
          <a:prstGeom prst="rect">
            <a:avLst/>
          </a:prstGeom>
          <a:noFill/>
          <a:ln>
            <a:noFill/>
          </a:ln>
        </p:spPr>
        <p:txBody>
          <a:bodyPr spcFirstLastPara="1" wrap="square" lIns="91425" tIns="45700" rIns="91425" bIns="45700" anchor="ctr" anchorCtr="0">
            <a:noAutofit/>
          </a:bodyPr>
          <a:lstStyle/>
          <a:p>
            <a:pPr lvl="0" algn="ctr"/>
            <a:r>
              <a:rPr lang="en-US" dirty="0">
                <a:solidFill>
                  <a:schemeClr val="tx1"/>
                </a:solidFill>
                <a:latin typeface="Cambria" panose="02040503050406030204" pitchFamily="18" charset="0"/>
                <a:ea typeface="Cambria" panose="02040503050406030204" pitchFamily="18" charset="0"/>
              </a:rPr>
              <a:t>AI-Driven Crop Disease Prediction and Management System</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Number:CSE145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                           </a:t>
            </a:r>
            <a:r>
              <a:rPr lang="en-US" sz="1700" b="1" dirty="0" err="1">
                <a:solidFill>
                  <a:srgbClr val="17365D"/>
                </a:solidFill>
                <a:latin typeface="Cambria" panose="02040503050406030204" pitchFamily="18" charset="0"/>
                <a:ea typeface="Cambria" panose="02040503050406030204" pitchFamily="18" charset="0"/>
                <a:cs typeface="Verdana"/>
                <a:sym typeface="Verdana"/>
              </a:rPr>
              <a:t>Mr.jerrin</a:t>
            </a:r>
            <a:r>
              <a:rPr lang="en-US" sz="1700" b="1" dirty="0">
                <a:solidFill>
                  <a:srgbClr val="17365D"/>
                </a:solidFill>
                <a:latin typeface="Cambria" panose="02040503050406030204" pitchFamily="18" charset="0"/>
                <a:ea typeface="Cambria" panose="02040503050406030204" pitchFamily="18" charset="0"/>
                <a:cs typeface="Verdana"/>
                <a:sym typeface="Verdana"/>
              </a:rPr>
              <a:t> Joe Francis </a:t>
            </a:r>
            <a:endParaRPr lang="en-US" sz="18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                                      Professor </a:t>
            </a:r>
            <a:endParaRPr lang="en-US" sz="18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lang="en-US" sz="18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lang="en-US" sz="18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extLst>
              <p:ext uri="{D42A27DB-BD31-4B8C-83A1-F6EECF244321}">
                <p14:modId xmlns:p14="http://schemas.microsoft.com/office/powerpoint/2010/main" val="3429895329"/>
              </p:ext>
            </p:extLst>
          </p:nvPr>
        </p:nvGraphicFramePr>
        <p:xfrm>
          <a:off x="553347" y="2513341"/>
          <a:ext cx="5070213" cy="2743260"/>
        </p:xfrm>
        <a:graphic>
          <a:graphicData uri="http://schemas.openxmlformats.org/drawingml/2006/table">
            <a:tbl>
              <a:tblPr firstRow="1" bandRow="1">
                <a:noFill/>
                <a:tableStyleId>{57690726-49DA-4552-BDEB-330DD8EA8BD9}</a:tableStyleId>
              </a:tblPr>
              <a:tblGrid>
                <a:gridCol w="1950919">
                  <a:extLst>
                    <a:ext uri="{9D8B030D-6E8A-4147-A177-3AD203B41FA5}">
                      <a16:colId xmlns:a16="http://schemas.microsoft.com/office/drawing/2014/main" val="20000"/>
                    </a:ext>
                  </a:extLst>
                </a:gridCol>
                <a:gridCol w="3119294">
                  <a:extLst>
                    <a:ext uri="{9D8B030D-6E8A-4147-A177-3AD203B41FA5}">
                      <a16:colId xmlns:a16="http://schemas.microsoft.com/office/drawing/2014/main" val="20001"/>
                    </a:ext>
                  </a:extLst>
                </a:gridCol>
              </a:tblGrid>
              <a:tr h="280651">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80651">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701616">
                <a:tc>
                  <a:txBody>
                    <a:bodyPr/>
                    <a:lstStyle/>
                    <a:p>
                      <a:pPr marL="0" marR="0" lvl="0" indent="0" algn="ctr" rtl="0">
                        <a:spcBef>
                          <a:spcPts val="0"/>
                        </a:spcBef>
                        <a:spcAft>
                          <a:spcPts val="0"/>
                        </a:spcAft>
                        <a:buNone/>
                      </a:pPr>
                      <a:r>
                        <a:rPr lang="en-US" sz="1800" u="none" strike="noStrike" cap="none" dirty="0"/>
                        <a:t>20221CSE0571</a:t>
                      </a:r>
                    </a:p>
                    <a:p>
                      <a:pPr marL="0" marR="0" lvl="0" indent="0" algn="ctr" rtl="0">
                        <a:spcBef>
                          <a:spcPts val="0"/>
                        </a:spcBef>
                        <a:spcAft>
                          <a:spcPts val="0"/>
                        </a:spcAft>
                        <a:buNone/>
                      </a:pPr>
                      <a:r>
                        <a:rPr lang="en-US" sz="1800" u="none" strike="noStrike" cap="none" dirty="0"/>
                        <a:t>20221CSE0567</a:t>
                      </a:r>
                    </a:p>
                    <a:p>
                      <a:pPr marL="0" marR="0" lvl="0" indent="0" algn="ctr" rtl="0">
                        <a:spcBef>
                          <a:spcPts val="0"/>
                        </a:spcBef>
                        <a:spcAft>
                          <a:spcPts val="0"/>
                        </a:spcAft>
                        <a:buNone/>
                      </a:pPr>
                      <a:r>
                        <a:rPr lang="en-US" sz="1800" u="none" strike="noStrike" cap="none" dirty="0"/>
                        <a:t>20221CSE0558</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KC SANJANA</a:t>
                      </a:r>
                    </a:p>
                    <a:p>
                      <a:pPr marL="0" marR="0" lvl="0" indent="0" algn="ctr" rtl="0">
                        <a:spcBef>
                          <a:spcPts val="0"/>
                        </a:spcBef>
                        <a:spcAft>
                          <a:spcPts val="0"/>
                        </a:spcAft>
                        <a:buNone/>
                      </a:pPr>
                      <a:r>
                        <a:rPr lang="en-US" sz="1800" u="none" strike="noStrike" cap="none" dirty="0"/>
                        <a:t>SRUSHTI BH</a:t>
                      </a:r>
                    </a:p>
                    <a:p>
                      <a:pPr marL="0" marR="0" lvl="0" indent="0" algn="ctr" rtl="0">
                        <a:spcBef>
                          <a:spcPts val="0"/>
                        </a:spcBef>
                        <a:spcAft>
                          <a:spcPts val="0"/>
                        </a:spcAft>
                        <a:buNone/>
                      </a:pPr>
                      <a:r>
                        <a:rPr lang="en-US" sz="1800" u="none" strike="noStrike" cap="none" dirty="0"/>
                        <a:t>SUSHMA M HULAKUND</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8065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8065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80651">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panose="020B0604020202020204"/>
              <a:buNone/>
            </a:pPr>
            <a:r>
              <a:rPr lang="en-GB" sz="18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B-tech CSE</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a:t>
            </a:r>
            <a:r>
              <a:rPr lang="en-US" sz="1800" b="1" dirty="0" err="1">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HoD</a:t>
            </a:r>
            <a:r>
              <a:rPr lang="en-US" sz="1800" b="1" dirty="0">
                <a:solidFill>
                  <a:srgbClr val="FF0000"/>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Dr.Blessed</a:t>
            </a:r>
            <a:r>
              <a:rPr lang="en-US" sz="1800" b="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prince </a:t>
            </a:r>
            <a:endPar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Muthuraju</a:t>
            </a:r>
            <a:r>
              <a:rPr lang="en-US" sz="18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v</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Abstract</a:t>
            </a:r>
          </a:p>
        </p:txBody>
      </p:sp>
      <p:sp>
        <p:nvSpPr>
          <p:cNvPr id="3" name="Text Placeholder 2"/>
          <p:cNvSpPr>
            <a:spLocks noGrp="1"/>
          </p:cNvSpPr>
          <p:nvPr>
            <p:ph type="body" idx="1"/>
          </p:nvPr>
        </p:nvSpPr>
        <p:spPr/>
        <p:txBody>
          <a:bodyPr>
            <a:normAutofit fontScale="92500"/>
          </a:bodyPr>
          <a:lstStyle/>
          <a:p>
            <a:r>
              <a:rPr dirty="0"/>
              <a:t>This project presents an AI-Driven Crop Disease Prediction and Management System aimed at addressing the challenges faced by farmers in identifying and managing rice crop diseases.</a:t>
            </a:r>
            <a:endParaRPr lang="en-US" dirty="0"/>
          </a:p>
          <a:p>
            <a:r>
              <a:rPr dirty="0"/>
              <a:t> By leveraging Convolutional Neural Networks (CNNs) with Transfer Learning approaches such as MobileNetV2, VGG16, and ResNet50, the system accurately classifies rice leaf conditions into Healthy, Leaf Blast, Bacterial Leaf Blight, and Brown Spot categories.</a:t>
            </a:r>
            <a:endParaRPr lang="en-US" dirty="0"/>
          </a:p>
          <a:p>
            <a:r>
              <a:t> </a:t>
            </a:r>
            <a:r>
              <a:rPr dirty="0"/>
              <a:t>The system integrates image-based disease detection with real-time web and mobile applications, ensuring farmers can capture, upload, and instantly receive diagnosis results</a:t>
            </a:r>
            <a:r>
              <a:t>. </a:t>
            </a:r>
            <a:endParaRPr lang="en-US"/>
          </a:p>
          <a:p>
            <a:r>
              <a:t>The </a:t>
            </a:r>
            <a:r>
              <a:rPr dirty="0"/>
              <a:t>solution promotes sustainable farming through early disease detection, reduced dependency on expert consultation, and improved crop yield outcomes.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Literature Survey</a:t>
            </a:r>
          </a:p>
        </p:txBody>
      </p:sp>
      <p:sp>
        <p:nvSpPr>
          <p:cNvPr id="3" name="Text Placeholder 2"/>
          <p:cNvSpPr>
            <a:spLocks noGrp="1"/>
          </p:cNvSpPr>
          <p:nvPr>
            <p:ph type="body" idx="1"/>
          </p:nvPr>
        </p:nvSpPr>
        <p:spPr/>
        <p:txBody>
          <a:bodyPr/>
          <a:lstStyle/>
          <a:p>
            <a:endParaRPr dirty="0"/>
          </a:p>
        </p:txBody>
      </p:sp>
      <p:pic>
        <p:nvPicPr>
          <p:cNvPr id="5" name="Picture 4">
            <a:extLst>
              <a:ext uri="{FF2B5EF4-FFF2-40B4-BE49-F238E27FC236}">
                <a16:creationId xmlns:a16="http://schemas.microsoft.com/office/drawing/2014/main" id="{C8556561-BD59-17FA-96E9-62B46156658B}"/>
              </a:ext>
            </a:extLst>
          </p:cNvPr>
          <p:cNvPicPr>
            <a:picLocks noChangeAspect="1"/>
          </p:cNvPicPr>
          <p:nvPr/>
        </p:nvPicPr>
        <p:blipFill>
          <a:blip r:embed="rId2"/>
          <a:srcRect b="7971"/>
          <a:stretch>
            <a:fillRect/>
          </a:stretch>
        </p:blipFill>
        <p:spPr>
          <a:xfrm>
            <a:off x="1301719" y="1143001"/>
            <a:ext cx="7192041" cy="52535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660E5-102A-5EE6-2FCF-251541C1B116}"/>
              </a:ext>
            </a:extLst>
          </p:cNvPr>
          <p:cNvSpPr>
            <a:spLocks noGrp="1"/>
          </p:cNvSpPr>
          <p:nvPr>
            <p:ph type="title"/>
          </p:nvPr>
        </p:nvSpPr>
        <p:spPr/>
        <p:txBody>
          <a:bodyPr/>
          <a:lstStyle/>
          <a:p>
            <a:r>
              <a:rPr lang="en-US" dirty="0"/>
              <a:t>.</a:t>
            </a:r>
            <a:endParaRPr lang="en-IN" dirty="0"/>
          </a:p>
        </p:txBody>
      </p:sp>
      <p:sp>
        <p:nvSpPr>
          <p:cNvPr id="3" name="Text Placeholder 2">
            <a:extLst>
              <a:ext uri="{FF2B5EF4-FFF2-40B4-BE49-F238E27FC236}">
                <a16:creationId xmlns:a16="http://schemas.microsoft.com/office/drawing/2014/main" id="{CF6296C8-B8DA-8FD3-A7C9-E62D9D19480C}"/>
              </a:ext>
            </a:extLst>
          </p:cNvPr>
          <p:cNvSpPr>
            <a:spLocks noGrp="1"/>
          </p:cNvSpPr>
          <p:nvPr>
            <p:ph type="body" idx="1"/>
          </p:nvPr>
        </p:nvSpPr>
        <p:spPr/>
        <p:txBody>
          <a:bodyPr/>
          <a:lstStyle/>
          <a:p>
            <a:endParaRPr lang="en-IN" dirty="0"/>
          </a:p>
        </p:txBody>
      </p:sp>
      <p:pic>
        <p:nvPicPr>
          <p:cNvPr id="6" name="Picture 5">
            <a:extLst>
              <a:ext uri="{FF2B5EF4-FFF2-40B4-BE49-F238E27FC236}">
                <a16:creationId xmlns:a16="http://schemas.microsoft.com/office/drawing/2014/main" id="{1C8B2B9D-BC22-10E7-B25A-0F6B4827EB28}"/>
              </a:ext>
            </a:extLst>
          </p:cNvPr>
          <p:cNvPicPr>
            <a:picLocks noChangeAspect="1"/>
          </p:cNvPicPr>
          <p:nvPr/>
        </p:nvPicPr>
        <p:blipFill>
          <a:blip r:embed="rId2"/>
          <a:srcRect t="20569"/>
          <a:stretch>
            <a:fillRect/>
          </a:stretch>
        </p:blipFill>
        <p:spPr>
          <a:xfrm>
            <a:off x="1334800" y="1242185"/>
            <a:ext cx="8668960" cy="4373629"/>
          </a:xfrm>
          <a:prstGeom prst="rect">
            <a:avLst/>
          </a:prstGeom>
        </p:spPr>
      </p:pic>
    </p:spTree>
    <p:extLst>
      <p:ext uri="{BB962C8B-B14F-4D97-AF65-F5344CB8AC3E}">
        <p14:creationId xmlns:p14="http://schemas.microsoft.com/office/powerpoint/2010/main" val="4180602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Text Placeholder 2"/>
          <p:cNvSpPr>
            <a:spLocks noGrp="1"/>
          </p:cNvSpPr>
          <p:nvPr>
            <p:ph type="body" idx="1"/>
          </p:nvPr>
        </p:nvSpPr>
        <p:spPr/>
        <p:txBody>
          <a:bodyPr/>
          <a:lstStyle/>
          <a:p>
            <a:r>
              <a:t>1. Develop an automated rice leaf disease detection system using CNNs with ≥95% accuracy.</a:t>
            </a:r>
          </a:p>
          <a:p>
            <a:r>
              <a:t>2. Apply Transfer Learning (VGG16, ResNet50, MobileNetV2) to ensure efficiency on small datasets.</a:t>
            </a:r>
          </a:p>
          <a:p>
            <a:r>
              <a:t>3. Build mobile and web applications for real-time farmer access, ensuring &lt;2s response time.</a:t>
            </a:r>
          </a:p>
          <a:p>
            <a:r>
              <a:t>4. Enable predictive recommendations for disease management based on detected conditions.</a:t>
            </a:r>
          </a:p>
          <a:p>
            <a:r>
              <a:t>5. Ensure scalability and deployability on cloud &amp; edge devices, targeting rural farmers’ accessibility.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62000" y="1069849"/>
            <a:ext cx="10668000" cy="4953000"/>
          </a:xfrm>
          <a:prstGeom prst="rect">
            <a:avLst/>
          </a:prstGeom>
          <a:noFill/>
          <a:ln>
            <a:noFill/>
          </a:ln>
        </p:spPr>
        <p:txBody>
          <a:bodyPr spcFirstLastPara="1" wrap="square" lIns="91425" tIns="45700" rIns="91425" bIns="45700" anchor="t" anchorCtr="0">
            <a:normAutofit/>
          </a:bodyPr>
          <a:lstStyle/>
          <a:p>
            <a:r>
              <a:rPr lang="en-US" b="1" dirty="0"/>
              <a:t>1. Existing Methods and Drawbacks</a:t>
            </a:r>
          </a:p>
          <a:p>
            <a:r>
              <a:rPr lang="en-US" b="1" dirty="0"/>
              <a:t>Traditional Methods:</a:t>
            </a:r>
            <a:r>
              <a:rPr lang="en-US" dirty="0"/>
              <a:t> Manual inspection and expert consultations are time-consuming, subjective, and prone to human error.</a:t>
            </a:r>
          </a:p>
          <a:p>
            <a:r>
              <a:rPr lang="en-US" b="1" dirty="0"/>
              <a:t>ML Approaches:</a:t>
            </a:r>
            <a:r>
              <a:rPr lang="en-US" dirty="0"/>
              <a:t> Require hand-crafted features, often limited generalization.</a:t>
            </a:r>
          </a:p>
          <a:p>
            <a:r>
              <a:rPr lang="en-US" b="1" dirty="0"/>
              <a:t>Deep Learning:</a:t>
            </a:r>
            <a:r>
              <a:rPr lang="en-US" dirty="0"/>
              <a:t> High accuracy but needs large, annotated datasets and high computational resources.</a:t>
            </a:r>
          </a:p>
          <a:p>
            <a:r>
              <a:rPr lang="en-US" b="1" dirty="0"/>
              <a:t>Drawbacks Identified:</a:t>
            </a:r>
            <a:r>
              <a:rPr lang="en-US" dirty="0"/>
              <a:t> Lack of scalability, limited real-time usability, high cost for small farmers, dataset dependency.</a:t>
            </a:r>
          </a:p>
          <a:p>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608353" y="1183848"/>
            <a:ext cx="10668000" cy="4953000"/>
          </a:xfrm>
          <a:prstGeom prst="rect">
            <a:avLst/>
          </a:prstGeom>
          <a:noFill/>
          <a:ln>
            <a:noFill/>
          </a:ln>
        </p:spPr>
        <p:txBody>
          <a:bodyPr spcFirstLastPara="1" wrap="square" lIns="91425" tIns="45700" rIns="91425" bIns="45700" anchor="t" anchorCtr="0">
            <a:normAutofit/>
          </a:bodyPr>
          <a:lstStyle/>
          <a:p>
            <a:r>
              <a:rPr lang="en-IN" b="1" dirty="0"/>
              <a:t>2. Proposed Method &amp; Feasibility Study</a:t>
            </a:r>
          </a:p>
          <a:p>
            <a:r>
              <a:rPr lang="en-IN" b="1" dirty="0"/>
              <a:t>Proposed Solution:</a:t>
            </a:r>
            <a:r>
              <a:rPr lang="en-IN" dirty="0"/>
              <a:t> AI-driven crop disease prediction system using CNN with Transfer Learning (MobileNetV2, VGG16, ResNet50).</a:t>
            </a:r>
          </a:p>
          <a:p>
            <a:r>
              <a:rPr lang="en-IN" b="1" dirty="0"/>
              <a:t>Features:</a:t>
            </a:r>
            <a:r>
              <a:rPr lang="en-IN" dirty="0"/>
              <a:t> Real-time image-based disease classification, predictive recommendations, and web/mobile integration.</a:t>
            </a:r>
          </a:p>
          <a:p>
            <a:r>
              <a:rPr lang="en-IN" b="1" dirty="0"/>
              <a:t>Feasibility:</a:t>
            </a:r>
            <a:endParaRPr lang="en-IN" dirty="0"/>
          </a:p>
          <a:p>
            <a:pPr lvl="1"/>
            <a:r>
              <a:rPr lang="en-IN" b="1" dirty="0"/>
              <a:t>Technology:</a:t>
            </a:r>
            <a:r>
              <a:rPr lang="en-IN" dirty="0"/>
              <a:t> Uses lightweight deep learning models optimized for mobile/web.</a:t>
            </a:r>
          </a:p>
          <a:p>
            <a:pPr lvl="1"/>
            <a:r>
              <a:rPr lang="en-IN" b="1" dirty="0"/>
              <a:t>Cost:</a:t>
            </a:r>
            <a:r>
              <a:rPr lang="en-IN" dirty="0"/>
              <a:t> Affordable for small-scale farmers through open-source frameworks &amp; cloud deployment.</a:t>
            </a:r>
          </a:p>
          <a:p>
            <a:pPr lvl="1"/>
            <a:r>
              <a:rPr lang="en-IN" b="1" dirty="0"/>
              <a:t>Resources:</a:t>
            </a:r>
            <a:r>
              <a:rPr lang="en-IN" dirty="0"/>
              <a:t> Scalable via Firebase &amp; cloud platforms; usable even in rural areas with low bandwidth.</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50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 Analysis of Problem Statement:</a:t>
            </a:r>
          </a:p>
        </p:txBody>
      </p:sp>
      <p:sp>
        <p:nvSpPr>
          <p:cNvPr id="115" name="Google Shape;115;p17"/>
          <p:cNvSpPr txBox="1">
            <a:spLocks noGrp="1"/>
          </p:cNvSpPr>
          <p:nvPr>
            <p:ph type="body" idx="1"/>
          </p:nvPr>
        </p:nvSpPr>
        <p:spPr>
          <a:xfrm>
            <a:off x="812800" y="1066800"/>
            <a:ext cx="10668000" cy="4953000"/>
          </a:xfrm>
          <a:prstGeom prst="rect">
            <a:avLst/>
          </a:prstGeom>
          <a:noFill/>
          <a:ln>
            <a:noFill/>
          </a:ln>
        </p:spPr>
        <p:txBody>
          <a:bodyPr spcFirstLastPara="1" wrap="square" lIns="91425" tIns="45700" rIns="91425" bIns="45700" anchor="t" anchorCtr="0">
            <a:noAutofit/>
          </a:bodyPr>
          <a:lstStyle/>
          <a:p>
            <a:r>
              <a:rPr lang="en-IN" sz="2000" b="1" dirty="0"/>
              <a:t>3. Architecture Diagram</a:t>
            </a:r>
            <a:endParaRPr lang="en-US" sz="2000" b="1" dirty="0"/>
          </a:p>
        </p:txBody>
      </p:sp>
      <p:pic>
        <p:nvPicPr>
          <p:cNvPr id="4" name="Picture 3">
            <a:extLst>
              <a:ext uri="{FF2B5EF4-FFF2-40B4-BE49-F238E27FC236}">
                <a16:creationId xmlns:a16="http://schemas.microsoft.com/office/drawing/2014/main" id="{604F796B-DD92-EE00-6DA6-D1BB198829D6}"/>
              </a:ext>
            </a:extLst>
          </p:cNvPr>
          <p:cNvPicPr>
            <a:picLocks noChangeAspect="1"/>
          </p:cNvPicPr>
          <p:nvPr/>
        </p:nvPicPr>
        <p:blipFill>
          <a:blip r:embed="rId3"/>
          <a:stretch>
            <a:fillRect/>
          </a:stretch>
        </p:blipFill>
        <p:spPr>
          <a:xfrm>
            <a:off x="2082800" y="1681480"/>
            <a:ext cx="8442960" cy="48245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500"/>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 Analysis of Problem Statement:</a:t>
            </a:r>
          </a:p>
        </p:txBody>
      </p:sp>
      <p:sp>
        <p:nvSpPr>
          <p:cNvPr id="115" name="Google Shape;115;p17"/>
          <p:cNvSpPr txBox="1">
            <a:spLocks noGrp="1"/>
          </p:cNvSpPr>
          <p:nvPr>
            <p:ph type="body" idx="1"/>
          </p:nvPr>
        </p:nvSpPr>
        <p:spPr>
          <a:xfrm>
            <a:off x="634125" y="1397875"/>
            <a:ext cx="10668000" cy="4401207"/>
          </a:xfrm>
          <a:prstGeom prst="rect">
            <a:avLst/>
          </a:prstGeom>
          <a:noFill/>
          <a:ln>
            <a:noFill/>
          </a:ln>
        </p:spPr>
        <p:txBody>
          <a:bodyPr spcFirstLastPara="1" wrap="square" lIns="91425" tIns="45700" rIns="91425" bIns="45700" anchor="t" anchorCtr="0">
            <a:noAutofit/>
          </a:bodyPr>
          <a:lstStyle/>
          <a:p>
            <a:r>
              <a:rPr lang="en-IN" sz="2000" b="1" dirty="0"/>
              <a:t>4. Modules</a:t>
            </a:r>
          </a:p>
          <a:p>
            <a:r>
              <a:rPr lang="en-IN" sz="2000" b="1" dirty="0"/>
              <a:t>Data Collection Module</a:t>
            </a:r>
            <a:r>
              <a:rPr lang="en-IN" sz="2000" dirty="0"/>
              <a:t> – Captures image/environmental data.</a:t>
            </a:r>
          </a:p>
          <a:p>
            <a:r>
              <a:rPr lang="en-IN" sz="2000" b="1" dirty="0"/>
              <a:t>Preprocessing Module</a:t>
            </a:r>
            <a:r>
              <a:rPr lang="en-IN" sz="2000" dirty="0"/>
              <a:t> – Normalizes and augments datasets.</a:t>
            </a:r>
          </a:p>
          <a:p>
            <a:r>
              <a:rPr lang="en-IN" sz="2000" b="1" dirty="0"/>
              <a:t>Prediction Module</a:t>
            </a:r>
            <a:r>
              <a:rPr lang="en-IN" sz="2000" dirty="0"/>
              <a:t> – CNN-based classification.</a:t>
            </a:r>
          </a:p>
          <a:p>
            <a:r>
              <a:rPr lang="en-IN" sz="2000" b="1" dirty="0"/>
              <a:t>Recommendation Module</a:t>
            </a:r>
            <a:r>
              <a:rPr lang="en-IN" sz="2000" dirty="0"/>
              <a:t> – Provides disease-specific remedies.</a:t>
            </a:r>
          </a:p>
          <a:p>
            <a:r>
              <a:rPr lang="en-IN" sz="2000" b="1" dirty="0"/>
              <a:t>User Interface Module</a:t>
            </a:r>
            <a:r>
              <a:rPr lang="en-IN" sz="2000" dirty="0"/>
              <a:t> – Farmer-friendly mobile/web apps.</a:t>
            </a:r>
          </a:p>
          <a:p>
            <a:r>
              <a:rPr lang="en-IN" sz="2000" b="1" dirty="0"/>
              <a:t>Cloud Integration Module</a:t>
            </a:r>
            <a:r>
              <a:rPr lang="en-IN" sz="2000" dirty="0"/>
              <a:t> – Data storage, scalability, updates.</a:t>
            </a:r>
          </a:p>
          <a:p>
            <a:pPr marL="0" lvl="0" indent="0" eaLnBrk="0" fontAlgn="base" hangingPunct="0">
              <a:spcBef>
                <a:spcPct val="0"/>
              </a:spcBef>
              <a:spcAft>
                <a:spcPct val="0"/>
              </a:spcAft>
              <a:buClrTx/>
              <a:buSzTx/>
              <a:buNone/>
            </a:pPr>
            <a:endParaRPr lang="en-US" altLang="en-US" sz="2000" dirty="0">
              <a:solidFill>
                <a:schemeClr val="tx1"/>
              </a:solidFill>
              <a:latin typeface="Arial" panose="020B0604020202020204" pitchFamily="34" charset="0"/>
            </a:endParaRPr>
          </a:p>
          <a:p>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460938"/>
            <a:ext cx="11379200" cy="6138042"/>
          </a:xfrm>
          <a:prstGeom prst="rect">
            <a:avLst/>
          </a:prstGeom>
          <a:noFill/>
          <a:ln>
            <a:noFill/>
          </a:ln>
        </p:spPr>
        <p:txBody>
          <a:bodyPr spcFirstLastPara="1" wrap="square" lIns="91425" tIns="45700" rIns="91425" bIns="45700" anchor="t" anchorCtr="0">
            <a:normAutofit/>
          </a:bodyPr>
          <a:lstStyle/>
          <a:p>
            <a:r>
              <a:rPr lang="en-IN" b="1" dirty="0"/>
              <a:t>Hardware and Software Details:</a:t>
            </a:r>
          </a:p>
          <a:p>
            <a:r>
              <a:rPr lang="en-IN" b="1" dirty="0"/>
              <a:t>Hardware:</a:t>
            </a:r>
            <a:r>
              <a:rPr lang="en-IN" dirty="0"/>
              <a:t> Smartphones (for image capture), IoT sensors (humidity, temperature, soil), drones (optional).</a:t>
            </a:r>
          </a:p>
          <a:p>
            <a:r>
              <a:rPr lang="en-IN" b="1" dirty="0"/>
              <a:t>Software:</a:t>
            </a:r>
            <a:endParaRPr lang="en-IN" dirty="0"/>
          </a:p>
          <a:p>
            <a:pPr lvl="1"/>
            <a:r>
              <a:rPr lang="en-IN" dirty="0"/>
              <a:t>AI frameworks: TensorFlow, </a:t>
            </a:r>
            <a:r>
              <a:rPr lang="en-IN" dirty="0" err="1"/>
              <a:t>Keras</a:t>
            </a:r>
            <a:r>
              <a:rPr lang="en-IN" dirty="0"/>
              <a:t>, </a:t>
            </a:r>
            <a:r>
              <a:rPr lang="en-IN" dirty="0" err="1"/>
              <a:t>PyTorch</a:t>
            </a:r>
            <a:endParaRPr lang="en-IN" dirty="0"/>
          </a:p>
          <a:p>
            <a:pPr lvl="1"/>
            <a:r>
              <a:rPr lang="en-IN" dirty="0"/>
              <a:t>Cloud: AWS, Firebase, Google Cloud</a:t>
            </a:r>
          </a:p>
          <a:p>
            <a:pPr lvl="1"/>
            <a:r>
              <a:rPr lang="en-IN" dirty="0"/>
              <a:t>Web &amp; Mobile: React.js, Flutter/Django REST API</a:t>
            </a:r>
          </a:p>
          <a:p>
            <a:pPr lvl="1"/>
            <a:r>
              <a:rPr lang="en-IN" dirty="0"/>
              <a:t>Database: Firebase/SQL</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965200" y="12954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r>
              <a:rPr lang="en-US" dirty="0">
                <a:latin typeface="Cambria" panose="02040503050406030204" pitchFamily="18" charset="0"/>
                <a:ea typeface="Cambria" panose="02040503050406030204" pitchFamily="18" charset="0"/>
              </a:rPr>
              <a:t>https://github.com/sushma566/AI-Driven-Crop-Disease-Prediction-and-Management-System</a:t>
            </a: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62000" y="1468820"/>
            <a:ext cx="10668000" cy="4953000"/>
          </a:xfrm>
          <a:prstGeom prst="rect">
            <a:avLst/>
          </a:prstGeom>
          <a:noFill/>
          <a:ln>
            <a:noFill/>
          </a:ln>
        </p:spPr>
        <p:txBody>
          <a:bodyPr spcFirstLastPara="1" wrap="square" lIns="91425" tIns="45700" rIns="91425" bIns="45700" anchor="t" anchorCtr="0">
            <a:normAutofit/>
          </a:bodyPr>
          <a:lstStyle/>
          <a:p>
            <a:pPr marL="495300" lvl="0" indent="-342900" algn="just" rtl="0">
              <a:spcBef>
                <a:spcPts val="0"/>
              </a:spcBef>
              <a:spcAft>
                <a:spcPts val="0"/>
              </a:spcAft>
              <a:buClr>
                <a:schemeClr val="dk1"/>
              </a:buClr>
              <a:buSzPct val="100000"/>
              <a:buFont typeface="Arial" panose="020B0604020202020204" pitchFamily="34" charset="0"/>
              <a:buChar char="•"/>
            </a:pPr>
            <a:endParaRPr lang="en-IN" sz="2000"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AutoShape 2" descr="Output image">
            <a:extLst>
              <a:ext uri="{FF2B5EF4-FFF2-40B4-BE49-F238E27FC236}">
                <a16:creationId xmlns:a16="http://schemas.microsoft.com/office/drawing/2014/main" id="{AAB8A243-41EA-4DC8-5B49-5981400376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79047E6A-3082-34A7-D73B-F846F0EFABCC}"/>
              </a:ext>
            </a:extLst>
          </p:cNvPr>
          <p:cNvPicPr>
            <a:picLocks noChangeAspect="1"/>
          </p:cNvPicPr>
          <p:nvPr/>
        </p:nvPicPr>
        <p:blipFill>
          <a:blip r:embed="rId3"/>
          <a:stretch>
            <a:fillRect/>
          </a:stretch>
        </p:blipFill>
        <p:spPr>
          <a:xfrm>
            <a:off x="1118911" y="1304416"/>
            <a:ext cx="7967481" cy="47804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04428"/>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pPr>
            <a:endParaRPr lang="en-US" sz="2000" dirty="0">
              <a:latin typeface="Cambria" panose="02040503050406030204" pitchFamily="18" charset="0"/>
              <a:ea typeface="Cambria" panose="02040503050406030204" pitchFamily="18" charset="0"/>
            </a:endParaRPr>
          </a:p>
          <a:p>
            <a:pPr marL="495300" indent="-342900">
              <a:spcBef>
                <a:spcPts val="0"/>
              </a:spcBef>
            </a:pPr>
            <a:endParaRPr lang="en-US" sz="2000" dirty="0">
              <a:latin typeface="Cambria" panose="02040503050406030204" pitchFamily="18" charset="0"/>
              <a:ea typeface="Cambria" panose="02040503050406030204" pitchFamily="18" charset="0"/>
            </a:endParaRPr>
          </a:p>
          <a:p>
            <a:r>
              <a:rPr lang="en-IN" sz="2000" dirty="0"/>
              <a:t>[1] Xiaolong Xu, Lei Zhang, Marcello </a:t>
            </a:r>
            <a:r>
              <a:rPr lang="en-IN" sz="2000" dirty="0" err="1"/>
              <a:t>Trovati</a:t>
            </a:r>
            <a:r>
              <a:rPr lang="en-IN" sz="2000" dirty="0"/>
              <a:t>, Francesco Palmieri, Eleana Asimakopoulou, and Olayinka Johnny, Nik </a:t>
            </a:r>
            <a:r>
              <a:rPr lang="en-IN" sz="2000" dirty="0" err="1"/>
              <a:t>Bessis</a:t>
            </a:r>
            <a:r>
              <a:rPr lang="en-IN" sz="2000" dirty="0"/>
              <a:t>, “PERMS: An efficient rescue route planning system in disasters,” </a:t>
            </a:r>
            <a:r>
              <a:rPr lang="en-IN" sz="2000" i="1" dirty="0"/>
              <a:t>Published on November 2021</a:t>
            </a:r>
            <a:r>
              <a:rPr lang="en-IN" sz="2000" dirty="0"/>
              <a:t>.</a:t>
            </a:r>
          </a:p>
          <a:p>
            <a:r>
              <a:rPr lang="en-IN" sz="2000" dirty="0"/>
              <a:t>[2] Omar </a:t>
            </a:r>
            <a:r>
              <a:rPr lang="en-IN" sz="2000" dirty="0" err="1"/>
              <a:t>Cheikhrouhou</a:t>
            </a:r>
            <a:r>
              <a:rPr lang="en-IN" sz="2000" dirty="0"/>
              <a:t>, Anis Koubaa, and Anis </a:t>
            </a:r>
            <a:r>
              <a:rPr lang="en-IN" sz="2000" dirty="0" err="1"/>
              <a:t>Zarrad</a:t>
            </a:r>
            <a:r>
              <a:rPr lang="en-IN" sz="2000" dirty="0"/>
              <a:t>, “A Cloud Based Disaster Management System,” </a:t>
            </a:r>
            <a:r>
              <a:rPr lang="en-IN" sz="2000" i="1" dirty="0"/>
              <a:t>Published on January 13, 2020</a:t>
            </a:r>
            <a:r>
              <a:rPr lang="en-IN" sz="2000" dirty="0"/>
              <a:t>.</a:t>
            </a:r>
          </a:p>
          <a:p>
            <a:r>
              <a:rPr lang="en-IN" sz="2000" dirty="0"/>
              <a:t>[3] Punith Kumar M. B., Sumanth S., and Manikant Amaresh </a:t>
            </a:r>
            <a:r>
              <a:rPr lang="en-IN" sz="2000" dirty="0" err="1"/>
              <a:t>Savadatti</a:t>
            </a:r>
            <a:r>
              <a:rPr lang="en-IN" sz="2000" dirty="0"/>
              <a:t>, “Internet Rescue Robots for Disaster Management,” </a:t>
            </a:r>
            <a:r>
              <a:rPr lang="en-IN" sz="2000" i="1" dirty="0"/>
              <a:t>Published on 08 April 2021</a:t>
            </a:r>
            <a:r>
              <a:rPr lang="en-IN" sz="2000" dirty="0"/>
              <a:t>.</a:t>
            </a:r>
          </a:p>
          <a:p>
            <a:r>
              <a:rPr lang="en-IN" sz="2000" dirty="0"/>
              <a:t>[4] Preetinder Singh Brar, Babar Shah, Jaiteg Singh, Farman Ali, and Daehan Kwak, “Using Modified Technology Acceptance Model to Evaluate the Adoption of a Proposed IoT-Based Indoor Disaster Management Software Tool by Rescue Workers,” </a:t>
            </a:r>
            <a:r>
              <a:rPr lang="en-IN" sz="2000" i="1" dirty="0"/>
              <a:t>Published on 26 February 2022</a:t>
            </a:r>
            <a:r>
              <a:rPr lang="en-IN" sz="2000" dirty="0"/>
              <a:t>.</a:t>
            </a: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1275</TotalTime>
  <Words>811</Words>
  <Application>Microsoft Office PowerPoint</Application>
  <PresentationFormat>Widescreen</PresentationFormat>
  <Paragraphs>94</Paragraphs>
  <Slides>15</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Cambria</vt:lpstr>
      <vt:lpstr>Verdana</vt:lpstr>
      <vt:lpstr>Wingdings</vt:lpstr>
      <vt:lpstr>Bioinformatics</vt:lpstr>
      <vt:lpstr>AI-Driven Crop Disease Prediction and Management System</vt:lpstr>
      <vt:lpstr>Content</vt:lpstr>
      <vt:lpstr>Abstract</vt:lpstr>
      <vt:lpstr>Literature Survey</vt:lpstr>
      <vt:lpstr>.</vt:lpstr>
      <vt:lpstr>Objectives</vt:lpstr>
      <vt:lpstr>PowerPoint Presentation</vt:lpstr>
      <vt:lpstr>PowerPoint Presentation</vt:lpstr>
      <vt:lpstr> Analysis of Problem Statement:</vt:lpstr>
      <vt:lpstr> Analysis of Problem Statement:</vt:lpstr>
      <vt:lpstr>Analysis of Problem Statement (contd...)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srushti b</cp:lastModifiedBy>
  <cp:revision>53</cp:revision>
  <dcterms:created xsi:type="dcterms:W3CDTF">2025-08-12T17:14:43Z</dcterms:created>
  <dcterms:modified xsi:type="dcterms:W3CDTF">2025-12-05T17:50:55Z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48ECBB7B60E04272AED8F247A8CCBB78_12</vt:lpwstr>
  </property>
  <property fmtid="{D5CDD505-2E9C-101B-9397-08002B2CF9AE}" pid="3" name="KSOProductBuildVer">
    <vt:lpwstr>2057-12.2.0.21936</vt:lpwstr>
  </property>
</Properties>
</file>