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81" r:id="rId5"/>
    <p:sldId id="273" r:id="rId6"/>
    <p:sldId id="276" r:id="rId7"/>
    <p:sldId id="280" r:id="rId8"/>
    <p:sldId id="268" r:id="rId9"/>
    <p:sldId id="272" r:id="rId10"/>
    <p:sldId id="278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9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8" y="1069102"/>
            <a:ext cx="10383499" cy="81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AI-Driven Crop Disease Prediction and Management System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Number:CSE145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        </a:t>
            </a:r>
            <a:r>
              <a:rPr 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Mr.jerrin</a:t>
            </a: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Joe Francis 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                   Professor 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School of Computer Science and Engineering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         Presidency University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429895329"/>
              </p:ext>
            </p:extLst>
          </p:nvPr>
        </p:nvGraphicFramePr>
        <p:xfrm>
          <a:off x="553347" y="2513341"/>
          <a:ext cx="5070213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1950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65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20221CSE0571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20221CSE0567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20221CSE0558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KC SANJANA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SRUSHTI BH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SUSHMA M HULAKUND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6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6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6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B-tech CSE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Blessed prince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Muthuraju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v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PSCS_282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2000" y="1069849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:Both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Description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000" dirty="0" err="1"/>
              <a:t>Rice</a:t>
            </a:r>
            <a:r>
              <a:rPr lang="en-US" sz="2000" dirty="0"/>
              <a:t> is one of the most important staple crops in the world, feeding billions of people, especially in Asia. However, its production is severely affected by various </a:t>
            </a:r>
            <a:r>
              <a:rPr lang="en-US" sz="2000" b="1" dirty="0"/>
              <a:t>leaf diseases</a:t>
            </a:r>
            <a:r>
              <a:rPr lang="en-US" sz="2000" dirty="0"/>
              <a:t> such as </a:t>
            </a:r>
            <a:r>
              <a:rPr lang="en-US" sz="2000" b="1" dirty="0"/>
              <a:t>Leaf Blast</a:t>
            </a:r>
            <a:r>
              <a:rPr lang="en-US" sz="2000" dirty="0"/>
              <a:t>, </a:t>
            </a:r>
            <a:r>
              <a:rPr lang="en-US" sz="2000" b="1" dirty="0"/>
              <a:t>Bacterial Leaf Blight</a:t>
            </a:r>
            <a:r>
              <a:rPr lang="en-US" sz="2000" dirty="0"/>
              <a:t>, and </a:t>
            </a:r>
            <a:r>
              <a:rPr lang="en-US" sz="2000" b="1" dirty="0"/>
              <a:t>Brown Spot</a:t>
            </a:r>
            <a:r>
              <a:rPr lang="en-US" sz="2000" dirty="0"/>
              <a:t>.</a:t>
            </a:r>
          </a:p>
          <a:p>
            <a:r>
              <a:rPr lang="en-US" sz="2000" dirty="0"/>
              <a:t>Early detection of these diseases is crucial for preventing yield loss, but </a:t>
            </a:r>
            <a:r>
              <a:rPr lang="en-US" sz="2000" b="1" dirty="0"/>
              <a:t>current methods have major limitations</a:t>
            </a:r>
            <a:r>
              <a:rPr lang="en-US" sz="2000" dirty="0"/>
              <a:t>:</a:t>
            </a:r>
          </a:p>
          <a:p>
            <a:r>
              <a:rPr lang="en-US" sz="2000" b="1" dirty="0"/>
              <a:t>Manual visual inspection</a:t>
            </a:r>
            <a:r>
              <a:rPr lang="en-US" sz="2000" dirty="0"/>
              <a:t> by farmers or agricultural experts is time-consuming, requires expertise, and is prone to human error.</a:t>
            </a:r>
          </a:p>
          <a:p>
            <a:r>
              <a:rPr lang="en-US" sz="2000" b="1" dirty="0"/>
              <a:t>Limited access to experts</a:t>
            </a:r>
            <a:r>
              <a:rPr lang="en-US" sz="2000" dirty="0"/>
              <a:t> in rural areas leads to delays in diagnosis and treatment.</a:t>
            </a:r>
          </a:p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1922A3-9037-491E-C012-F9297BE8406D}"/>
              </a:ext>
            </a:extLst>
          </p:cNvPr>
          <p:cNvSpPr txBox="1"/>
          <p:nvPr/>
        </p:nvSpPr>
        <p:spPr>
          <a:xfrm>
            <a:off x="749808" y="333756"/>
            <a:ext cx="7981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 :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5696D1-F0A9-261E-9E1F-B2AB16EDDD3D}"/>
              </a:ext>
            </a:extLst>
          </p:cNvPr>
          <p:cNvSpPr txBox="1"/>
          <p:nvPr/>
        </p:nvSpPr>
        <p:spPr>
          <a:xfrm>
            <a:off x="749808" y="1005840"/>
            <a:ext cx="102138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rice leaf disease detection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Neural Networks (CNN)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(VGG16, ResNet50,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MobileNet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to handle small datasets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Classify leaves into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Leaf Blast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Leaf Blight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Brown Spot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deployment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and web platforms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farmer accessibility.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146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551792" y="1447799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/>
              <a:t>Current Situation:</a:t>
            </a:r>
            <a:endParaRPr lang="en-US" b="1" dirty="0"/>
          </a:p>
          <a:p>
            <a:r>
              <a:rPr lang="en-US" sz="2000" dirty="0"/>
              <a:t>Rice, being a staple food crop, is highly vulnerable to diseases such as </a:t>
            </a:r>
            <a:r>
              <a:rPr lang="en-US" sz="2000" b="1" dirty="0"/>
              <a:t>Leaf Blast</a:t>
            </a:r>
            <a:r>
              <a:rPr lang="en-US" sz="2000" dirty="0"/>
              <a:t>, </a:t>
            </a:r>
            <a:r>
              <a:rPr lang="en-US" sz="2000" b="1" dirty="0"/>
              <a:t>Bacterial Leaf Blight</a:t>
            </a:r>
            <a:r>
              <a:rPr lang="en-US" sz="2000" dirty="0"/>
              <a:t>, and </a:t>
            </a:r>
            <a:r>
              <a:rPr lang="en-US" sz="2000" b="1" dirty="0"/>
              <a:t>Brown Spot</a:t>
            </a:r>
            <a:r>
              <a:rPr lang="en-US" sz="2000" dirty="0"/>
              <a:t>.</a:t>
            </a:r>
          </a:p>
          <a:p>
            <a:r>
              <a:rPr lang="en-US" sz="2000" dirty="0"/>
              <a:t>Farmers in rural areas rely on </a:t>
            </a:r>
            <a:r>
              <a:rPr lang="en-US" sz="2000" b="1" dirty="0"/>
              <a:t>manual visual inspection</a:t>
            </a:r>
            <a:r>
              <a:rPr lang="en-US" sz="2000" dirty="0"/>
              <a:t>, which:</a:t>
            </a:r>
          </a:p>
          <a:p>
            <a:pPr lvl="1"/>
            <a:r>
              <a:rPr lang="en-US" dirty="0"/>
              <a:t>Requires </a:t>
            </a:r>
            <a:r>
              <a:rPr lang="en-US" b="1" dirty="0"/>
              <a:t>expert knowledge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Is </a:t>
            </a:r>
            <a:r>
              <a:rPr lang="en-US" b="1" dirty="0"/>
              <a:t>time-consuming</a:t>
            </a:r>
            <a:r>
              <a:rPr lang="en-US" dirty="0"/>
              <a:t> and </a:t>
            </a:r>
            <a:r>
              <a:rPr lang="en-US" b="1" dirty="0"/>
              <a:t>error-prone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Can cause delays in treatment, leading to reduced yield and quality.</a:t>
            </a:r>
          </a:p>
          <a:p>
            <a:r>
              <a:rPr lang="en-US" sz="2000" dirty="0"/>
              <a:t>Even existing automated methods often require </a:t>
            </a:r>
            <a:r>
              <a:rPr lang="en-US" sz="2000" b="1" dirty="0"/>
              <a:t>large datasets</a:t>
            </a:r>
            <a:r>
              <a:rPr lang="en-US" sz="2000" dirty="0"/>
              <a:t>, high computational power, or </a:t>
            </a:r>
            <a:r>
              <a:rPr lang="en-US" sz="2000" b="1" dirty="0"/>
              <a:t>lab-based analysis</a:t>
            </a:r>
            <a:r>
              <a:rPr lang="en-US" sz="2000" dirty="0"/>
              <a:t>, which is not practical for most farmers.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Analysis of Problem Statement: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668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Pain Points</a:t>
            </a:r>
          </a:p>
          <a:p>
            <a:r>
              <a:rPr lang="en-US" sz="2000" b="1" dirty="0"/>
              <a:t>Lack of Accessibility</a:t>
            </a:r>
            <a:r>
              <a:rPr lang="en-US" sz="2000" dirty="0"/>
              <a:t> – Advanced disease detection technologies are not widely available to farmers.</a:t>
            </a:r>
          </a:p>
          <a:p>
            <a:r>
              <a:rPr lang="en-US" sz="2000" b="1" dirty="0"/>
              <a:t>Small Dataset Challenge</a:t>
            </a:r>
            <a:r>
              <a:rPr lang="en-US" sz="2000" dirty="0"/>
              <a:t> – Limited availability of labeled images for rice leaf diseases makes training from scratch inefficient.</a:t>
            </a:r>
          </a:p>
          <a:p>
            <a:r>
              <a:rPr lang="en-US" sz="2000" b="1" dirty="0"/>
              <a:t>Low Generalization</a:t>
            </a:r>
            <a:r>
              <a:rPr lang="en-US" sz="2000" dirty="0"/>
              <a:t> – Models trained on specific datasets may fail when tested in real field conditions with different lighting, angles, and backgrounds.</a:t>
            </a:r>
          </a:p>
          <a:p>
            <a:r>
              <a:rPr lang="en-US" sz="2000" b="1" dirty="0"/>
              <a:t>Slow Response</a:t>
            </a:r>
            <a:r>
              <a:rPr lang="en-US" sz="2000" dirty="0"/>
              <a:t> – Manual reporting and expert consultation can take days, allowing the disease to spread.</a:t>
            </a:r>
          </a:p>
          <a:p>
            <a:r>
              <a:rPr lang="en-US" sz="2000" b="1" dirty="0"/>
              <a:t>Limited Scalability</a:t>
            </a:r>
            <a:r>
              <a:rPr lang="en-US" sz="2000" dirty="0"/>
              <a:t> – Traditional systems are difficult to deploy on low-resource devices like mobile phones.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Analysis of Problem Statement: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34125" y="1397875"/>
            <a:ext cx="10668000" cy="440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Need for AI Solution</a:t>
            </a:r>
          </a:p>
          <a:p>
            <a:r>
              <a:rPr lang="en-US" sz="2000" dirty="0"/>
              <a:t>An </a:t>
            </a:r>
            <a:r>
              <a:rPr lang="en-US" sz="2000" b="1" dirty="0"/>
              <a:t>AI-powered, real-time, image-based detection system</a:t>
            </a:r>
            <a:r>
              <a:rPr lang="en-US" sz="2000" dirty="0"/>
              <a:t> that:</a:t>
            </a:r>
          </a:p>
          <a:p>
            <a:pPr lvl="1"/>
            <a:r>
              <a:rPr lang="en-US" dirty="0"/>
              <a:t>Works with </a:t>
            </a:r>
            <a:r>
              <a:rPr lang="en-US" b="1" dirty="0"/>
              <a:t>small but well-augmented datasets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Is </a:t>
            </a:r>
            <a:r>
              <a:rPr lang="en-US" b="1" dirty="0"/>
              <a:t>lightweight</a:t>
            </a:r>
            <a:r>
              <a:rPr lang="en-US" dirty="0"/>
              <a:t> enough for mobile deployment (e.g., </a:t>
            </a:r>
            <a:r>
              <a:rPr lang="en-US" dirty="0" err="1"/>
              <a:t>MobileNet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Can </a:t>
            </a:r>
            <a:r>
              <a:rPr lang="en-US" b="1" dirty="0"/>
              <a:t>generalize</a:t>
            </a:r>
            <a:r>
              <a:rPr lang="en-US" dirty="0"/>
              <a:t> well to different field conditions.</a:t>
            </a:r>
          </a:p>
          <a:p>
            <a:pPr lvl="1"/>
            <a:r>
              <a:rPr lang="en-US" dirty="0"/>
              <a:t>Provides </a:t>
            </a:r>
            <a:r>
              <a:rPr lang="en-US" b="1" dirty="0"/>
              <a:t>instant results</a:t>
            </a:r>
            <a:r>
              <a:rPr lang="en-US" dirty="0"/>
              <a:t> to farmers without requiring expert presence.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      Automated Image-Based Diagnosis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     Farmers can capture and upload a photo of a suspected diseased leaf via a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mobile app or web interface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     The system uses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CNN with Transfer Learning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to classify the disease instantly.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      Lightweight &amp; Real-Time Processing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965200" y="12954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https://github.com/sushma566/AI-Driven-Crop-Disease-Prediction-and-Management-System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460938"/>
            <a:ext cx="11379200" cy="613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000" b="1" dirty="0"/>
              <a:t>Frontend</a:t>
            </a:r>
            <a:r>
              <a:rPr lang="en-IN" sz="2000" dirty="0"/>
              <a:t> – Mobile &amp; Web UI (React / Flutter / Angular).</a:t>
            </a:r>
          </a:p>
          <a:p>
            <a:r>
              <a:rPr lang="en-IN" sz="2000" b="1" dirty="0"/>
              <a:t>Backend</a:t>
            </a:r>
            <a:r>
              <a:rPr lang="en-IN" sz="2000" dirty="0"/>
              <a:t> – REST API (Node.js, Django, or Java Spring Boot).</a:t>
            </a:r>
          </a:p>
          <a:p>
            <a:r>
              <a:rPr lang="en-IN" sz="2000" b="1" dirty="0"/>
              <a:t>Database</a:t>
            </a:r>
            <a:r>
              <a:rPr lang="en-IN" sz="2000" dirty="0"/>
              <a:t> – RDBMS (PostgreSQL/MySQL) or hybrid with NoSQL (MongoDB).</a:t>
            </a:r>
          </a:p>
          <a:p>
            <a:r>
              <a:rPr lang="en-IN" sz="2000" b="1" dirty="0"/>
              <a:t>GPS &amp; Map APIs</a:t>
            </a:r>
            <a:r>
              <a:rPr lang="en-IN" sz="2000" dirty="0"/>
              <a:t> – Google Maps API / OpenStreetMap.</a:t>
            </a:r>
          </a:p>
          <a:p>
            <a:r>
              <a:rPr lang="en-IN" sz="2000" b="1" dirty="0"/>
              <a:t>Notification Service</a:t>
            </a:r>
            <a:r>
              <a:rPr lang="en-IN" sz="2000" dirty="0"/>
              <a:t> – Firebase Cloud Messaging (FCM) or similar.</a:t>
            </a:r>
          </a:p>
          <a:p>
            <a:r>
              <a:rPr lang="en-IN" sz="2000" b="1" dirty="0"/>
              <a:t>Security Layer</a:t>
            </a:r>
            <a:r>
              <a:rPr lang="en-IN" sz="2000" dirty="0"/>
              <a:t> – JWT authentication, role-based access, HTTPS.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26B36-D767-5B8A-FB7F-1E321D538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3F087-D38B-07CB-AC47-49AE58B87E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30567"/>
            <a:ext cx="9770623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Requirements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Collect stakeholder needs from agencies.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Database Design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Centralized, scalable, secure.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UI/UX Development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Map integration, filters, 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Location Tracking Integration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Automated GPS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Collaboration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Alerts, requests, messaging.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Security Implementation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Authentication, authorization, encryption.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Testing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Unit, integration, and user acceptance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Deployment &amp; Maintenance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Cloud hosting, updates,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Feedback &amp; Iteration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– Continuous improvements.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146882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AutoShape 2" descr="Output image">
            <a:extLst>
              <a:ext uri="{FF2B5EF4-FFF2-40B4-BE49-F238E27FC236}">
                <a16:creationId xmlns:a16="http://schemas.microsoft.com/office/drawing/2014/main" id="{AAB8A243-41EA-4DC8-5B49-598140037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047E6A-3082-34A7-D73B-F846F0EFA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319" y="1257282"/>
            <a:ext cx="7967481" cy="4780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0442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/>
              <a:t>[1] Xiaolong Xu, Lei Zhang, Marcello </a:t>
            </a:r>
            <a:r>
              <a:rPr lang="en-IN" sz="2000" dirty="0" err="1"/>
              <a:t>Trovati</a:t>
            </a:r>
            <a:r>
              <a:rPr lang="en-IN" sz="2000" dirty="0"/>
              <a:t>, Francesco Palmieri, Eleana Asimakopoulou, and Olayinka Johnny, Nik </a:t>
            </a:r>
            <a:r>
              <a:rPr lang="en-IN" sz="2000" dirty="0" err="1"/>
              <a:t>Bessis</a:t>
            </a:r>
            <a:r>
              <a:rPr lang="en-IN" sz="2000" dirty="0"/>
              <a:t>, “PERMS: An efficient rescue route planning system in disasters,” </a:t>
            </a:r>
            <a:r>
              <a:rPr lang="en-IN" sz="2000" i="1" dirty="0"/>
              <a:t>Published on November 2021</a:t>
            </a:r>
            <a:r>
              <a:rPr lang="en-IN" sz="2000" dirty="0"/>
              <a:t>.</a:t>
            </a:r>
          </a:p>
          <a:p>
            <a:r>
              <a:rPr lang="en-IN" sz="2000" dirty="0"/>
              <a:t>[2] Omar </a:t>
            </a:r>
            <a:r>
              <a:rPr lang="en-IN" sz="2000" dirty="0" err="1"/>
              <a:t>Cheikhrouhou</a:t>
            </a:r>
            <a:r>
              <a:rPr lang="en-IN" sz="2000" dirty="0"/>
              <a:t>, Anis Koubaa, and Anis </a:t>
            </a:r>
            <a:r>
              <a:rPr lang="en-IN" sz="2000" dirty="0" err="1"/>
              <a:t>Zarrad</a:t>
            </a:r>
            <a:r>
              <a:rPr lang="en-IN" sz="2000" dirty="0"/>
              <a:t>, “A Cloud Based Disaster Management System,” </a:t>
            </a:r>
            <a:r>
              <a:rPr lang="en-IN" sz="2000" i="1" dirty="0"/>
              <a:t>Published on January 13, 2020</a:t>
            </a:r>
            <a:r>
              <a:rPr lang="en-IN" sz="2000" dirty="0"/>
              <a:t>.</a:t>
            </a:r>
          </a:p>
          <a:p>
            <a:r>
              <a:rPr lang="en-IN" sz="2000" dirty="0"/>
              <a:t>[3] Punith Kumar M. B., Sumanth S., and Manikant Amaresh </a:t>
            </a:r>
            <a:r>
              <a:rPr lang="en-IN" sz="2000" dirty="0" err="1"/>
              <a:t>Savadatti</a:t>
            </a:r>
            <a:r>
              <a:rPr lang="en-IN" sz="2000" dirty="0"/>
              <a:t>, “Internet Rescue Robots for Disaster Management,” </a:t>
            </a:r>
            <a:r>
              <a:rPr lang="en-IN" sz="2000" i="1" dirty="0"/>
              <a:t>Published on 08 April 2021</a:t>
            </a:r>
            <a:r>
              <a:rPr lang="en-IN" sz="2000" dirty="0"/>
              <a:t>.</a:t>
            </a:r>
          </a:p>
          <a:p>
            <a:r>
              <a:rPr lang="en-IN" sz="2000" dirty="0"/>
              <a:t>[4] Preetinder Singh Brar, Babar Shah, Jaiteg Singh, Farman Ali, and Daehan Kwak, “Using Modified Technology Acceptance Model to Evaluate the Adoption of a Proposed IoT-Based Indoor Disaster Management Software Tool by Rescue Workers,” </a:t>
            </a:r>
            <a:r>
              <a:rPr lang="en-IN" sz="2000" i="1" dirty="0"/>
              <a:t>Published on 26 February 2022</a:t>
            </a:r>
            <a:r>
              <a:rPr lang="en-IN" sz="2000" dirty="0"/>
              <a:t>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958</Words>
  <Application>Microsoft Office PowerPoint</Application>
  <PresentationFormat>Widescreen</PresentationFormat>
  <Paragraphs>111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Verdana</vt:lpstr>
      <vt:lpstr>Wingdings</vt:lpstr>
      <vt:lpstr>Bioinformatics</vt:lpstr>
      <vt:lpstr>AI-Driven Crop Disease Prediction and Management System</vt:lpstr>
      <vt:lpstr>Problem Statement Number: PSCS_282</vt:lpstr>
      <vt:lpstr>Content</vt:lpstr>
      <vt:lpstr>PowerPoint Presentation</vt:lpstr>
      <vt:lpstr>Analysis of Problem Statement:</vt:lpstr>
      <vt:lpstr> Analysis of Problem Statement:</vt:lpstr>
      <vt:lpstr> Analysis of Problem Statement: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srushti b</cp:lastModifiedBy>
  <cp:revision>49</cp:revision>
  <dcterms:created xsi:type="dcterms:W3CDTF">2025-08-12T17:14:43Z</dcterms:created>
  <dcterms:modified xsi:type="dcterms:W3CDTF">2025-12-05T17:48:56Z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48ECBB7B60E04272AED8F247A8CCBB78_12</vt:lpwstr>
  </property>
  <property fmtid="{D5CDD505-2E9C-101B-9397-08002B2CF9AE}" pid="3" name="KSOProductBuildVer">
    <vt:lpwstr>2057-12.2.0.21936</vt:lpwstr>
  </property>
</Properties>
</file>